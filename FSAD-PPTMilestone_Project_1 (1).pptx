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9" d="100"/>
          <a:sy n="59" d="100"/>
        </p:scale>
        <p:origin x="28" y="3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DD-MM-YYYY</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IN" sz="3200" dirty="0"/>
              <a:t>Responsive E-Commerce Interface with State-Persistent Cart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K.Likith</a:t>
            </a:r>
            <a:r>
              <a:rPr lang="en-US" sz="3000" dirty="0">
                <a:latin typeface="Cambria" panose="02040503050406030204" pitchFamily="18" charset="0"/>
                <a:ea typeface="Cambria" panose="02040503050406030204" pitchFamily="18" charset="0"/>
              </a:rPr>
              <a:t> kumar – VTU24742– 23UECS1104</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Dr.S.Hemamalini</a:t>
            </a:r>
            <a:r>
              <a:rPr lang="en-US" sz="3000" dirty="0">
                <a:latin typeface="Cambria" panose="02040503050406030204" pitchFamily="18" charset="0"/>
                <a:ea typeface="Cambria" panose="02040503050406030204" pitchFamily="18" charset="0"/>
              </a:rPr>
              <a:t> - Designation</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a:t>
            </a:r>
            <a:r>
              <a:rPr lang="en-US" sz="2000" b="1" dirty="0"/>
              <a:t>SDG 9 – Industry,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1726287"/>
          </a:xfrm>
          <a:prstGeom prst="rect">
            <a:avLst/>
          </a:prstGeom>
          <a:noFill/>
        </p:spPr>
        <p:txBody>
          <a:bodyPr wrap="square" rtlCol="0">
            <a:spAutoFit/>
          </a:bodyPr>
          <a:lstStyle/>
          <a:p>
            <a:pPr marL="457200" indent="-457200">
              <a:buFontTx/>
              <a:buChar char="-"/>
            </a:pPr>
            <a:r>
              <a:rPr lang="en-US" sz="2800" dirty="0"/>
              <a:t>Growing demand for efficient and user-friendly e-commerce platforms.</a:t>
            </a:r>
          </a:p>
          <a:p>
            <a:pPr marL="457200" indent="-457200">
              <a:buFontTx/>
              <a:buChar char="-"/>
            </a:pPr>
            <a:endParaRPr lang="en-US" sz="2800" dirty="0"/>
          </a:p>
          <a:p>
            <a:pPr marL="457200" indent="-457200">
              <a:buFontTx/>
              <a:buChar char="-"/>
            </a:pPr>
            <a:r>
              <a:rPr lang="en-US" sz="2800" dirty="0"/>
              <a:t>Issues in existing systems with poor responsiveness across devices.</a:t>
            </a:r>
          </a:p>
          <a:p>
            <a:pPr marL="457200" indent="-457200">
              <a:buFontTx/>
              <a:buChar char="-"/>
            </a:pPr>
            <a:endParaRPr lang="en-US" sz="2800" dirty="0"/>
          </a:p>
          <a:p>
            <a:pPr marL="457200" indent="-457200">
              <a:buFontTx/>
              <a:buChar char="-"/>
            </a:pPr>
            <a:r>
              <a:rPr lang="en-US" sz="2800" dirty="0"/>
              <a:t>Loss of cart data during page refresh or session changes.</a:t>
            </a:r>
          </a:p>
          <a:p>
            <a:pPr marL="457200" indent="-457200">
              <a:buFontTx/>
              <a:buChar char="-"/>
            </a:pPr>
            <a:endParaRPr lang="en-US" sz="2800" dirty="0"/>
          </a:p>
          <a:p>
            <a:pPr marL="457200" indent="-457200">
              <a:buFontTx/>
              <a:buChar char="-"/>
            </a:pPr>
            <a:r>
              <a:rPr lang="en-US" sz="2800" dirty="0"/>
              <a:t>Need for improved user experience and seamless navigation.</a:t>
            </a:r>
          </a:p>
          <a:p>
            <a:pPr marL="457200" indent="-457200">
              <a:buFontTx/>
              <a:buChar char="-"/>
            </a:pPr>
            <a:endParaRPr lang="en-US" sz="2800" dirty="0"/>
          </a:p>
          <a:p>
            <a:pPr marL="457200" indent="-457200">
              <a:buFontTx/>
              <a:buChar char="-"/>
            </a:pPr>
            <a:r>
              <a:rPr lang="en-US" sz="2800" dirty="0"/>
              <a:t>Implementation of a responsive design for all screen sizes.</a:t>
            </a:r>
          </a:p>
          <a:p>
            <a:pPr marL="457200" indent="-457200">
              <a:buFontTx/>
              <a:buChar char="-"/>
            </a:pPr>
            <a:endParaRPr lang="en-US" sz="2800" dirty="0"/>
          </a:p>
          <a:p>
            <a:pPr marL="457200" indent="-457200">
              <a:buFontTx/>
              <a:buChar char="-"/>
            </a:pPr>
            <a:r>
              <a:rPr lang="en-US" sz="2800" dirty="0"/>
              <a:t>Use of state persistence to maintain cart data across sessions.</a:t>
            </a:r>
          </a:p>
          <a:p>
            <a:pPr marL="457200" indent="-457200">
              <a:buFontTx/>
              <a:buChar char="-"/>
            </a:pPr>
            <a:endParaRPr lang="en-US" sz="2800" dirty="0"/>
          </a:p>
          <a:p>
            <a:pPr marL="457200" indent="-457200">
              <a:buFontTx/>
              <a:buChar char="-"/>
            </a:pPr>
            <a:r>
              <a:rPr lang="en-US" sz="2800" dirty="0"/>
              <a:t>Enhances customer satisfaction and increases business sales. </a:t>
            </a:r>
          </a:p>
          <a:p>
            <a:pPr marL="457200" indent="-457200">
              <a:buFontTx/>
              <a:buChar char="-"/>
            </a:pPr>
            <a:endParaRPr lang="en-US" sz="2800" dirty="0"/>
          </a:p>
          <a:p>
            <a:pPr marL="457200" indent="-457200">
              <a:buFontTx/>
              <a:buChar char="-"/>
            </a:pPr>
            <a:r>
              <a:rPr lang="en-US" sz="2800" dirty="0"/>
              <a:t>Real-world application in modern online shopping systems using web technologies.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2588061"/>
          </a:xfrm>
          <a:prstGeom prst="rect">
            <a:avLst/>
          </a:prstGeom>
          <a:noFill/>
        </p:spPr>
        <p:txBody>
          <a:bodyPr wrap="square" rtlCol="0">
            <a:spAutoFit/>
          </a:bodyPr>
          <a:lstStyle/>
          <a:p>
            <a:pPr marL="457200" indent="-457200">
              <a:buFontTx/>
              <a:buChar char="-"/>
            </a:pPr>
            <a:r>
              <a:rPr lang="en-US" sz="2800" dirty="0"/>
              <a:t>Many e-commerce platforms do not provide a fully responsive interface across all devices.</a:t>
            </a:r>
          </a:p>
          <a:p>
            <a:pPr marL="457200" indent="-457200">
              <a:buFontTx/>
              <a:buChar char="-"/>
            </a:pPr>
            <a:endParaRPr lang="en-US" sz="2800" dirty="0"/>
          </a:p>
          <a:p>
            <a:pPr marL="457200" indent="-457200">
              <a:buFontTx/>
              <a:buChar char="-"/>
            </a:pPr>
            <a:r>
              <a:rPr lang="en-US" sz="2800" dirty="0"/>
              <a:t>Users face difficulty navigating websites on mobile, tablet, and desktop screens.</a:t>
            </a:r>
          </a:p>
          <a:p>
            <a:pPr marL="457200" indent="-457200">
              <a:buFontTx/>
              <a:buChar char="-"/>
            </a:pPr>
            <a:endParaRPr lang="en-US" sz="2800" dirty="0"/>
          </a:p>
          <a:p>
            <a:pPr marL="457200" indent="-457200">
              <a:buFontTx/>
              <a:buChar char="-"/>
            </a:pPr>
            <a:r>
              <a:rPr lang="en-US" sz="2800" dirty="0"/>
              <a:t>Shopping cart data is often lost during page refresh or browser closure.</a:t>
            </a:r>
          </a:p>
          <a:p>
            <a:pPr marL="457200" indent="-457200">
              <a:buFontTx/>
              <a:buChar char="-"/>
            </a:pPr>
            <a:endParaRPr lang="en-US" sz="2800" dirty="0"/>
          </a:p>
          <a:p>
            <a:pPr marL="457200" indent="-457200">
              <a:buFontTx/>
              <a:buChar char="-"/>
            </a:pPr>
            <a:r>
              <a:rPr lang="en-US" sz="2800" dirty="0"/>
              <a:t>Lack of state persistence leads to poor user experience and frustration.</a:t>
            </a:r>
          </a:p>
          <a:p>
            <a:pPr marL="457200" indent="-457200">
              <a:buFontTx/>
              <a:buChar char="-"/>
            </a:pPr>
            <a:endParaRPr lang="en-US" sz="2800" dirty="0"/>
          </a:p>
          <a:p>
            <a:pPr marL="457200" indent="-457200">
              <a:buFontTx/>
              <a:buChar char="-"/>
            </a:pPr>
            <a:r>
              <a:rPr lang="en-US" sz="2800" dirty="0"/>
              <a:t>Existing systems do not efficiently manage user session data.</a:t>
            </a:r>
          </a:p>
          <a:p>
            <a:pPr marL="457200" indent="-457200">
              <a:buFontTx/>
              <a:buChar char="-"/>
            </a:pPr>
            <a:endParaRPr lang="en-US" sz="2800" dirty="0"/>
          </a:p>
          <a:p>
            <a:pPr marL="457200" indent="-457200">
              <a:buFontTx/>
              <a:buChar char="-"/>
            </a:pPr>
            <a:r>
              <a:rPr lang="en-US" sz="2800" dirty="0"/>
              <a:t>This results in reduced customer engagement and potential loss of sales.</a:t>
            </a:r>
          </a:p>
          <a:p>
            <a:pPr marL="457200" indent="-457200">
              <a:buFontTx/>
              <a:buChar char="-"/>
            </a:pPr>
            <a:endParaRPr lang="en-US" sz="2800" dirty="0"/>
          </a:p>
          <a:p>
            <a:pPr marL="457200" indent="-457200">
              <a:buFontTx/>
              <a:buChar char="-"/>
            </a:pPr>
            <a:r>
              <a:rPr lang="en-US" sz="2800" dirty="0"/>
              <a:t>There is a need for a reliable system that maintains cart data consistently.</a:t>
            </a:r>
          </a:p>
          <a:p>
            <a:pPr marL="457200" indent="-457200">
              <a:buFontTx/>
              <a:buChar char="-"/>
            </a:pPr>
            <a:endParaRPr lang="en-US" sz="2800" dirty="0"/>
          </a:p>
          <a:p>
            <a:pPr marL="457200" indent="-457200">
              <a:buFontTx/>
              <a:buChar char="-"/>
            </a:pPr>
            <a:r>
              <a:rPr lang="en-US" sz="2800" dirty="0"/>
              <a:t>A responsive and state-persistent e-commerce solution is required to improve usability and performance.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1" y="1695858"/>
            <a:ext cx="15396552" cy="4832092"/>
          </a:xfrm>
          <a:prstGeom prst="rect">
            <a:avLst/>
          </a:prstGeom>
          <a:noFill/>
        </p:spPr>
        <p:txBody>
          <a:bodyPr wrap="square" rtlCol="0">
            <a:spAutoFit/>
          </a:bodyPr>
          <a:lstStyle/>
          <a:p>
            <a:pPr marL="457200" indent="-457200">
              <a:buFontTx/>
              <a:buChar char="-"/>
            </a:pPr>
            <a:r>
              <a:rPr lang="en-IN" sz="2800" dirty="0"/>
              <a:t>To design and develop a responsive e-commerce interface</a:t>
            </a:r>
          </a:p>
          <a:p>
            <a:pPr marL="457200" indent="-457200">
              <a:buFontTx/>
              <a:buChar char="-"/>
            </a:pPr>
            <a:endParaRPr lang="en-IN" sz="2800" dirty="0"/>
          </a:p>
          <a:p>
            <a:pPr marL="457200" indent="-457200">
              <a:buFontTx/>
              <a:buChar char="-"/>
            </a:pPr>
            <a:r>
              <a:rPr lang="en-US" sz="2800" dirty="0"/>
              <a:t>To implement a state-persistent shopping cart system.</a:t>
            </a:r>
          </a:p>
          <a:p>
            <a:pPr marL="457200" indent="-457200">
              <a:buFontTx/>
              <a:buChar char="-"/>
            </a:pPr>
            <a:endParaRPr lang="en-US" sz="2800" dirty="0"/>
          </a:p>
          <a:p>
            <a:pPr marL="457200" indent="-457200">
              <a:buFontTx/>
              <a:buChar char="-"/>
            </a:pPr>
            <a:r>
              <a:rPr lang="en-US" sz="2800" dirty="0"/>
              <a:t>To improve user experience and data retention across sessions.</a:t>
            </a:r>
          </a:p>
          <a:p>
            <a:pPr marL="457200" indent="-457200">
              <a:buFontTx/>
              <a:buChar char="-"/>
            </a:pPr>
            <a:endParaRPr lang="en-US" sz="2800" dirty="0"/>
          </a:p>
          <a:p>
            <a:pPr marL="457200" indent="-457200">
              <a:buFontTx/>
              <a:buChar char="-"/>
            </a:pPr>
            <a:r>
              <a:rPr lang="en-US" sz="2800" dirty="0"/>
              <a:t>To evaluate performance of the system in terms of usability and efficiency.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1295400"/>
          </a:xfrm>
          <a:prstGeom prst="rect">
            <a:avLst/>
          </a:prstGeom>
          <a:noFill/>
        </p:spPr>
        <p:txBody>
          <a:bodyPr wrap="square" rtlCol="0">
            <a:spAutoFit/>
          </a:bodyPr>
          <a:lstStyle/>
          <a:p>
            <a:pPr marL="457200" indent="-457200">
              <a:buFontTx/>
              <a:buChar char="-"/>
            </a:pPr>
            <a:r>
              <a:rPr lang="en-IN" sz="2800" dirty="0"/>
              <a:t>Develop a responsive e-commerce interface compatible with mobile, tablet, and desktop devices.</a:t>
            </a:r>
          </a:p>
          <a:p>
            <a:pPr marL="457200" indent="-457200">
              <a:buFontTx/>
              <a:buChar char="-"/>
            </a:pPr>
            <a:endParaRPr lang="en-IN" sz="2800" dirty="0"/>
          </a:p>
          <a:p>
            <a:pPr marL="457200" indent="-457200">
              <a:buFontTx/>
              <a:buChar char="-"/>
            </a:pPr>
            <a:r>
              <a:rPr lang="en-US" sz="2800" dirty="0"/>
              <a:t>Implement a state-persistent cart using local storage or session storage.</a:t>
            </a:r>
          </a:p>
          <a:p>
            <a:pPr marL="457200" indent="-457200">
              <a:buFontTx/>
              <a:buChar char="-"/>
            </a:pPr>
            <a:endParaRPr lang="en-US" sz="2800" dirty="0"/>
          </a:p>
          <a:p>
            <a:pPr marL="457200" indent="-457200">
              <a:buFontTx/>
              <a:buChar char="-"/>
            </a:pPr>
            <a:r>
              <a:rPr lang="en-US" sz="2800" dirty="0"/>
              <a:t>Ensure cart data is retained even after page refresh or browser restart.</a:t>
            </a:r>
          </a:p>
          <a:p>
            <a:pPr marL="457200" indent="-457200">
              <a:buFontTx/>
              <a:buChar char="-"/>
            </a:pPr>
            <a:endParaRPr lang="en-US" sz="2800" dirty="0"/>
          </a:p>
          <a:p>
            <a:pPr marL="457200" indent="-457200">
              <a:buFontTx/>
              <a:buChar char="-"/>
            </a:pPr>
            <a:r>
              <a:rPr lang="en-US" sz="2800" dirty="0"/>
              <a:t>Provide a smooth and consistent user experience across all devices.</a:t>
            </a:r>
          </a:p>
          <a:p>
            <a:pPr marL="457200" indent="-457200">
              <a:buFontTx/>
              <a:buChar char="-"/>
            </a:pPr>
            <a:endParaRPr lang="en-US" sz="2800" dirty="0"/>
          </a:p>
          <a:p>
            <a:pPr marL="457200" indent="-457200">
              <a:buFontTx/>
              <a:buChar char="-"/>
            </a:pPr>
            <a:r>
              <a:rPr lang="en-US" sz="2800" dirty="0"/>
              <a:t>Reduce data loss issues present in existing e-commerce systems.</a:t>
            </a:r>
          </a:p>
          <a:p>
            <a:pPr marL="457200" indent="-457200">
              <a:buFontTx/>
              <a:buChar char="-"/>
            </a:pPr>
            <a:endParaRPr lang="en-US" sz="2800" dirty="0"/>
          </a:p>
          <a:p>
            <a:pPr marL="457200" indent="-457200">
              <a:buFontTx/>
              <a:buChar char="-"/>
            </a:pPr>
            <a:r>
              <a:rPr lang="en-US" sz="2800" dirty="0"/>
              <a:t>Improve customer satisfaction by maintaining user selections reliably.</a:t>
            </a:r>
          </a:p>
          <a:p>
            <a:pPr marL="457200" indent="-457200">
              <a:buFontTx/>
              <a:buChar char="-"/>
            </a:pPr>
            <a:endParaRPr lang="en-US" sz="2800" dirty="0"/>
          </a:p>
          <a:p>
            <a:pPr marL="457200" indent="-457200">
              <a:buFontTx/>
              <a:buChar char="-"/>
            </a:pPr>
            <a:r>
              <a:rPr lang="en-US" sz="2800" dirty="0"/>
              <a:t>Increase efficiency and usability compared to traditional systems.</a:t>
            </a:r>
          </a:p>
          <a:p>
            <a:pPr marL="457200" indent="-457200">
              <a:buFontTx/>
              <a:buChar char="-"/>
            </a:pPr>
            <a:endParaRPr lang="en-US" sz="2800" dirty="0"/>
          </a:p>
          <a:p>
            <a:pPr marL="457200" indent="-457200">
              <a:buFontTx/>
              <a:buChar char="-"/>
            </a:pPr>
            <a:r>
              <a:rPr lang="en-US" sz="2800" dirty="0"/>
              <a:t>Offer a scalable and modern solution using current web technologies.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590800" y="1415591"/>
            <a:ext cx="15082325" cy="3539430"/>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558E4D2A-6224-3FBE-CB68-956118C125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4400" y="1146934"/>
            <a:ext cx="10134600" cy="82637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470087" y="-38573848"/>
            <a:ext cx="230005456"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AutoShape 2" descr="Generated image: E-commerce system data flow diagram">
            <a:extLst>
              <a:ext uri="{FF2B5EF4-FFF2-40B4-BE49-F238E27FC236}">
                <a16:creationId xmlns:a16="http://schemas.microsoft.com/office/drawing/2014/main" id="{E8BF92D9-AC2A-1541-418E-511CD8AD7EA1}"/>
              </a:ext>
            </a:extLst>
          </p:cNvPr>
          <p:cNvSpPr>
            <a:spLocks noChangeAspect="1" noChangeArrowheads="1"/>
          </p:cNvSpPr>
          <p:nvPr/>
        </p:nvSpPr>
        <p:spPr bwMode="auto">
          <a:xfrm>
            <a:off x="8991600" y="647700"/>
            <a:ext cx="4648200" cy="4648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a:extLst>
              <a:ext uri="{FF2B5EF4-FFF2-40B4-BE49-F238E27FC236}">
                <a16:creationId xmlns:a16="http://schemas.microsoft.com/office/drawing/2014/main" id="{670216F9-B9FF-E214-7ECD-4331D077B982}"/>
              </a:ext>
            </a:extLst>
          </p:cNvPr>
          <p:cNvSpPr txBox="1"/>
          <p:nvPr/>
        </p:nvSpPr>
        <p:spPr>
          <a:xfrm>
            <a:off x="69113400" y="-15299081"/>
            <a:ext cx="105242412" cy="2308324"/>
          </a:xfrm>
          <a:prstGeom prst="rect">
            <a:avLst/>
          </a:prstGeom>
          <a:noFill/>
        </p:spPr>
        <p:txBody>
          <a:bodyPr wrap="square">
            <a:spAutoFit/>
          </a:bodyPr>
          <a:lstStyle/>
          <a:p>
            <a:pPr marL="457200" indent="-457200">
              <a:buFontTx/>
              <a:buChar char="-"/>
            </a:pPr>
            <a:r>
              <a:rPr lang="en-US" sz="1800" dirty="0"/>
              <a:t>Frontend:</a:t>
            </a:r>
          </a:p>
          <a:p>
            <a:pPr marL="457200" indent="-457200">
              <a:buFontTx/>
              <a:buChar char="-"/>
            </a:pPr>
            <a:r>
              <a:rPr lang="en-US" sz="1800" dirty="0"/>
              <a:t>Backend:</a:t>
            </a:r>
          </a:p>
          <a:p>
            <a:pPr marL="457200" indent="-457200">
              <a:buFontTx/>
              <a:buChar char="-"/>
            </a:pPr>
            <a:r>
              <a:rPr lang="en-US" sz="1800" dirty="0"/>
              <a:t>Database:</a:t>
            </a:r>
          </a:p>
          <a:p>
            <a:pPr marL="457200" indent="-457200">
              <a:buFontTx/>
              <a:buChar char="-"/>
            </a:pPr>
            <a:r>
              <a:rPr lang="en-US" sz="1800" dirty="0"/>
              <a:t>Tools:</a:t>
            </a:r>
          </a:p>
          <a:p>
            <a:pPr marL="457200" indent="-457200">
              <a:buFontTx/>
              <a:buChar char="-"/>
            </a:pPr>
            <a:r>
              <a:rPr lang="en-US" sz="1800" dirty="0"/>
              <a:t>Hardware/Software Requirements:</a:t>
            </a:r>
          </a:p>
          <a:p>
            <a:pPr marL="457200" indent="-457200">
              <a:buFontTx/>
              <a:buChar char="-"/>
            </a:pPr>
            <a:endParaRPr lang="en-US" sz="1800" dirty="0"/>
          </a:p>
          <a:p>
            <a:pPr marL="457200" indent="-457200">
              <a:buFontTx/>
              <a:buChar char="-"/>
            </a:pPr>
            <a:endParaRPr lang="en-US" sz="1800" dirty="0"/>
          </a:p>
          <a:p>
            <a:pPr marL="457200" indent="-457200">
              <a:buFontTx/>
              <a:buChar char="-"/>
            </a:pPr>
            <a:endParaRPr lang="en-US" sz="1800" dirty="0"/>
          </a:p>
        </p:txBody>
      </p:sp>
      <p:pic>
        <p:nvPicPr>
          <p:cNvPr id="6" name="Picture 5">
            <a:extLst>
              <a:ext uri="{FF2B5EF4-FFF2-40B4-BE49-F238E27FC236}">
                <a16:creationId xmlns:a16="http://schemas.microsoft.com/office/drawing/2014/main" id="{008DF8BF-0858-92F4-216B-FBF3A1751990}"/>
              </a:ext>
            </a:extLst>
          </p:cNvPr>
          <p:cNvPicPr>
            <a:picLocks noChangeAspect="1"/>
          </p:cNvPicPr>
          <p:nvPr/>
        </p:nvPicPr>
        <p:blipFill>
          <a:blip r:embed="rId4"/>
          <a:stretch>
            <a:fillRect/>
          </a:stretch>
        </p:blipFill>
        <p:spPr>
          <a:xfrm>
            <a:off x="2898033" y="2358538"/>
            <a:ext cx="13387892" cy="5110867"/>
          </a:xfrm>
          <a:prstGeom prst="rect">
            <a:avLst/>
          </a:prstGeom>
        </p:spPr>
      </p:pic>
      <p:pic>
        <p:nvPicPr>
          <p:cNvPr id="7" name="Picture 6">
            <a:extLst>
              <a:ext uri="{FF2B5EF4-FFF2-40B4-BE49-F238E27FC236}">
                <a16:creationId xmlns:a16="http://schemas.microsoft.com/office/drawing/2014/main" id="{9C6A91C4-DCDC-1E3C-1077-2AA37AF904F2}"/>
              </a:ext>
            </a:extLst>
          </p:cNvPr>
          <p:cNvPicPr>
            <a:picLocks noChangeAspect="1"/>
          </p:cNvPicPr>
          <p:nvPr/>
        </p:nvPicPr>
        <p:blipFill>
          <a:blip r:embed="rId5"/>
          <a:stretch>
            <a:fillRect/>
          </a:stretch>
        </p:blipFill>
        <p:spPr>
          <a:xfrm>
            <a:off x="1828800" y="1741462"/>
            <a:ext cx="14630400" cy="82788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176975" y="1175799"/>
            <a:ext cx="15082325" cy="14311610"/>
          </a:xfrm>
          <a:prstGeom prst="rect">
            <a:avLst/>
          </a:prstGeom>
          <a:noFill/>
        </p:spPr>
        <p:txBody>
          <a:bodyPr wrap="square" rtlCol="0">
            <a:spAutoFit/>
          </a:bodyPr>
          <a:lstStyle/>
          <a:p>
            <a:endParaRPr lang="en-US" sz="2800" i="1" dirty="0"/>
          </a:p>
          <a:p>
            <a:pPr marL="457200" indent="-457200">
              <a:buFontTx/>
              <a:buChar char="-"/>
            </a:pPr>
            <a:r>
              <a:rPr lang="en-US" sz="2800" dirty="0"/>
              <a:t>Frontend:</a:t>
            </a:r>
            <a:r>
              <a:rPr lang="en-US" sz="2400" dirty="0"/>
              <a:t>HTML5, CSS3, JavaScript (Vanilla JS) </a:t>
            </a:r>
            <a:r>
              <a:rPr lang="en-US" sz="2400" i="1" dirty="0"/>
              <a:t>(This is what creates the user interface, styling, and interactivity on the browser side like index.html and script.js)</a:t>
            </a:r>
          </a:p>
          <a:p>
            <a:pPr marL="457200" indent="-457200">
              <a:buFontTx/>
              <a:buChar char="-"/>
            </a:pPr>
            <a:endParaRPr lang="en-US" sz="2400" i="1" dirty="0"/>
          </a:p>
          <a:p>
            <a:pPr marL="457200" indent="-457200">
              <a:buFontTx/>
              <a:buChar char="-"/>
            </a:pPr>
            <a:r>
              <a:rPr lang="en-US" sz="2800" dirty="0" err="1"/>
              <a:t>Backend:</a:t>
            </a:r>
            <a:r>
              <a:rPr lang="en-US" sz="2400" dirty="0" err="1"/>
              <a:t>Node.js</a:t>
            </a:r>
            <a:r>
              <a:rPr lang="en-US" sz="2400" dirty="0"/>
              <a:t>, Express.js </a:t>
            </a:r>
            <a:r>
              <a:rPr lang="en-US" sz="2400" i="1" dirty="0"/>
              <a:t>(This is the server-side logic in server.js that handles the API requests, routing, and business logic)</a:t>
            </a:r>
          </a:p>
          <a:p>
            <a:endParaRPr lang="en-US" sz="2800" dirty="0"/>
          </a:p>
          <a:p>
            <a:pPr marL="457200" indent="-457200">
              <a:buFontTx/>
              <a:buChar char="-"/>
            </a:pPr>
            <a:r>
              <a:rPr lang="en-US" sz="2800" dirty="0" err="1"/>
              <a:t>Database:</a:t>
            </a:r>
            <a:r>
              <a:rPr lang="en-US" sz="2400" dirty="0" err="1"/>
              <a:t>MongoDB</a:t>
            </a:r>
            <a:r>
              <a:rPr lang="en-US" sz="2400" dirty="0"/>
              <a:t> (with Mongoose) </a:t>
            </a:r>
            <a:r>
              <a:rPr lang="en-US" sz="2400" i="1" dirty="0"/>
              <a:t>(This is the NoSQL database where you store your Users, Products, and Cart collections)</a:t>
            </a:r>
          </a:p>
          <a:p>
            <a:pPr marL="457200" indent="-457200">
              <a:buFontTx/>
              <a:buChar char="-"/>
            </a:pPr>
            <a:endParaRPr lang="en-US" sz="2400" dirty="0"/>
          </a:p>
          <a:p>
            <a:pPr marL="457200" indent="-457200" algn="just">
              <a:buFontTx/>
              <a:buChar char="-"/>
            </a:pPr>
            <a:r>
              <a:rPr lang="en-US" sz="2800" dirty="0" err="1"/>
              <a:t>Tools:v</a:t>
            </a:r>
            <a:r>
              <a:rPr lang="en-US" sz="2400" dirty="0" err="1"/>
              <a:t>isual</a:t>
            </a:r>
            <a:r>
              <a:rPr lang="en-US" sz="2400" dirty="0"/>
              <a:t> Studio Code (VS Code), Node Package Manager (</a:t>
            </a:r>
            <a:r>
              <a:rPr lang="en-US" sz="2400" dirty="0" err="1"/>
              <a:t>npm</a:t>
            </a:r>
            <a:r>
              <a:rPr lang="en-US" sz="2400" dirty="0"/>
              <a:t>), Postman (for API testing), Git (for version control) </a:t>
            </a:r>
            <a:r>
              <a:rPr lang="en-US" sz="2400" i="1" dirty="0"/>
              <a:t>(These are the applications you use to write, test, and manage your code)</a:t>
            </a:r>
          </a:p>
          <a:p>
            <a:pPr marL="457200" indent="-457200">
              <a:buFontTx/>
              <a:buChar char="-"/>
            </a:pPr>
            <a:r>
              <a:rPr lang="en-US" sz="2800" dirty="0"/>
              <a:t>Hardware/Software Requirements:</a:t>
            </a:r>
            <a:r>
              <a:rPr lang="en-US" sz="2800" b="1" dirty="0"/>
              <a:t> </a:t>
            </a:r>
            <a:r>
              <a:rPr lang="en-US" sz="2000" b="1" dirty="0"/>
              <a:t>Software</a:t>
            </a:r>
            <a:r>
              <a:rPr lang="en-US" sz="2400" dirty="0"/>
              <a:t>: Any modern web browser (Chrome, Edge, Safari), Node.js runtime environment installed on the machine, MongoDB server (local or cloud like Atlas).</a:t>
            </a:r>
          </a:p>
          <a:p>
            <a:pPr algn="just"/>
            <a:r>
              <a:rPr lang="en-US" sz="2400" b="1" dirty="0"/>
              <a:t>       Hardware (Minimum)</a:t>
            </a:r>
            <a:r>
              <a:rPr lang="en-US" sz="2400" dirty="0"/>
              <a:t>:A standard computer or laptop with at least 4GB of RAM and a basic processor (e.g., Intel i3              or equivalent) to run the development server efficiently.</a:t>
            </a:r>
          </a:p>
          <a:p>
            <a:endParaRPr lang="en-US" sz="2000" dirty="0"/>
          </a:p>
          <a:p>
            <a:endParaRPr lang="en-US" sz="2000" dirty="0"/>
          </a:p>
          <a:p>
            <a:pPr marL="457200" indent="-457200" algn="just">
              <a:buFontTx/>
              <a:buChar char="-"/>
            </a:pPr>
            <a:endParaRPr lang="en-US" sz="2000" i="1" dirty="0"/>
          </a:p>
          <a:p>
            <a:pPr marL="457200" indent="-457200">
              <a:buFontTx/>
              <a:buChar char="-"/>
            </a:pPr>
            <a:endParaRPr lang="en-US" sz="2400" dirty="0"/>
          </a:p>
          <a:p>
            <a:endParaRPr lang="en-US" dirty="0"/>
          </a:p>
          <a:p>
            <a:endParaRPr lang="en-US"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34603" y="656198"/>
            <a:ext cx="15082325" cy="10926068"/>
          </a:xfrm>
          <a:prstGeom prst="rect">
            <a:avLst/>
          </a:prstGeom>
          <a:noFill/>
        </p:spPr>
        <p:txBody>
          <a:bodyPr wrap="square" rtlCol="0">
            <a:spAutoFit/>
          </a:bodyPr>
          <a:lstStyle/>
          <a:p>
            <a:endParaRPr lang="en-IN" sz="2800" b="1" dirty="0"/>
          </a:p>
          <a:p>
            <a:endParaRPr lang="en-IN" sz="2800" b="1" dirty="0"/>
          </a:p>
          <a:p>
            <a:r>
              <a:rPr lang="en-IN" sz="2800" b="1" dirty="0"/>
              <a:t>User Management</a:t>
            </a:r>
          </a:p>
          <a:p>
            <a:r>
              <a:rPr lang="en-US" sz="2400" dirty="0"/>
              <a:t>login page (login.html/login.js), verifying if a user is a </a:t>
            </a:r>
            <a:r>
              <a:rPr lang="en-US" sz="2400" b="1" dirty="0"/>
              <a:t>Buyer</a:t>
            </a:r>
            <a:r>
              <a:rPr lang="en-US" sz="2400" dirty="0"/>
              <a:t> or a </a:t>
            </a:r>
            <a:r>
              <a:rPr lang="en-US" sz="2400" b="1" dirty="0"/>
              <a:t>Seller</a:t>
            </a:r>
            <a:r>
              <a:rPr lang="en-US" sz="2400" dirty="0"/>
              <a:t>, and granting them the correct dashboard access. It ensures that only logged-in users can add items to their cart or list new products.</a:t>
            </a:r>
            <a:endParaRPr lang="en-IN" sz="2400" b="1" dirty="0"/>
          </a:p>
          <a:p>
            <a:endParaRPr lang="en-IN" sz="2400" b="1" dirty="0"/>
          </a:p>
          <a:p>
            <a:r>
              <a:rPr lang="en-IN" sz="2800" b="1" dirty="0"/>
              <a:t>Core Processing</a:t>
            </a:r>
          </a:p>
          <a:p>
            <a:r>
              <a:rPr lang="en-US" sz="2400" dirty="0"/>
              <a:t>The server logic (server.js) that manages adding items to the cart, calculating total prices, updating product quantities, and dynamically rendering the product catalog on index.html. It takes the user's clicks and makes the business logic happen efficiently.</a:t>
            </a:r>
          </a:p>
          <a:p>
            <a:endParaRPr lang="en-IN" sz="2800" b="1" dirty="0"/>
          </a:p>
          <a:p>
            <a:r>
              <a:rPr lang="en-IN" sz="2800" b="1" dirty="0"/>
              <a:t>Database Management</a:t>
            </a:r>
          </a:p>
          <a:p>
            <a:r>
              <a:rPr lang="en-US" sz="2400" dirty="0"/>
              <a:t>This module ensures that when a user adds something to their cart, it is safely stored in the Cart collection so it doesn't disappear when they refresh the page. It also handles retrieving the list of products from the Products collection and keeping user data secure in the Users collection.</a:t>
            </a:r>
          </a:p>
          <a:p>
            <a:endParaRPr lang="en-IN" sz="2400" b="1" dirty="0"/>
          </a:p>
          <a:p>
            <a:r>
              <a:rPr lang="en-IN" sz="2800" b="1" dirty="0"/>
              <a:t>Reporting &amp; Analytics</a:t>
            </a:r>
          </a:p>
          <a:p>
            <a:r>
              <a:rPr lang="en-US" sz="2400" dirty="0"/>
              <a:t> In your current project, this is primarily your </a:t>
            </a:r>
            <a:r>
              <a:rPr lang="en-US" sz="2400" b="1" dirty="0"/>
              <a:t>Seller Dashboard</a:t>
            </a:r>
            <a:r>
              <a:rPr lang="en-US" sz="2400" dirty="0"/>
              <a:t> (seller.html/seller.js). It allows the seller to see a "report" of all the products they have listed and track their current inventory levels. In the future, this module could easily be expanded to show them total sales or popular items!</a:t>
            </a:r>
            <a:endParaRPr lang="en-IN" sz="2400" b="1"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3970318"/>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020CC42C-3514-CE46-6A0A-BAA52F759C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1333500"/>
            <a:ext cx="12192000" cy="762000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B7A3CF33-0DBD-0709-BD46-6F6C6B5595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1333500"/>
            <a:ext cx="12192000" cy="76200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A89FBD8E-F4DF-3FC3-F9E6-5437309C05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1333500"/>
            <a:ext cx="12192000" cy="76200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2E469139-4239-A5E7-19B0-26F8D139E7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1333500"/>
            <a:ext cx="12192000" cy="7620000"/>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090AA68-027C-163E-D0DE-02BF63D9A862}"/>
              </a:ext>
            </a:extLst>
          </p:cNvPr>
          <p:cNvSpPr txBox="1"/>
          <p:nvPr/>
        </p:nvSpPr>
        <p:spPr>
          <a:xfrm>
            <a:off x="2228970" y="1507131"/>
            <a:ext cx="15072753" cy="6863417"/>
          </a:xfrm>
          <a:prstGeom prst="rect">
            <a:avLst/>
          </a:prstGeom>
          <a:noFill/>
        </p:spPr>
        <p:txBody>
          <a:bodyPr wrap="square">
            <a:spAutoFit/>
          </a:bodyPr>
          <a:lstStyle/>
          <a:p>
            <a:r>
              <a:rPr lang="en-IN" sz="2800" b="1" dirty="0"/>
              <a:t>Advantages:</a:t>
            </a:r>
          </a:p>
          <a:p>
            <a:pPr marL="342900" indent="-342900">
              <a:buFontTx/>
              <a:buChar char="-"/>
            </a:pPr>
            <a:r>
              <a:rPr lang="en-IN" sz="2400" dirty="0"/>
              <a:t>Provides a </a:t>
            </a:r>
            <a:r>
              <a:rPr lang="en-IN" sz="2400" b="1" dirty="0"/>
              <a:t>responsive design</a:t>
            </a:r>
            <a:r>
              <a:rPr lang="en-IN" sz="2400" dirty="0"/>
              <a:t> for all devices (mobile, tablet, desktop).</a:t>
            </a:r>
          </a:p>
          <a:p>
            <a:pPr marL="342900" indent="-342900">
              <a:buFontTx/>
              <a:buChar char="-"/>
            </a:pPr>
            <a:r>
              <a:rPr lang="en-US" sz="2400" dirty="0"/>
              <a:t>Supports </a:t>
            </a:r>
            <a:r>
              <a:rPr lang="en-US" sz="2400" b="1" dirty="0"/>
              <a:t>scalability</a:t>
            </a:r>
            <a:r>
              <a:rPr lang="en-US" sz="2400" dirty="0"/>
              <a:t> for future enhancements.</a:t>
            </a:r>
            <a:endParaRPr lang="en-IN" sz="2400" dirty="0"/>
          </a:p>
          <a:p>
            <a:pPr marL="342900" indent="-342900">
              <a:buFontTx/>
              <a:buChar char="-"/>
            </a:pPr>
            <a:r>
              <a:rPr lang="en-US" sz="2400" dirty="0"/>
              <a:t>Improves </a:t>
            </a:r>
            <a:r>
              <a:rPr lang="en-US" sz="2400" b="1" dirty="0"/>
              <a:t>user experience and convenience</a:t>
            </a:r>
            <a:r>
              <a:rPr lang="en-US" sz="2400" dirty="0"/>
              <a:t>.</a:t>
            </a:r>
          </a:p>
          <a:p>
            <a:pPr marL="342900" indent="-342900">
              <a:buFontTx/>
              <a:buChar char="-"/>
            </a:pPr>
            <a:r>
              <a:rPr lang="en-US" sz="2400" dirty="0"/>
              <a:t>Helps businesses improve </a:t>
            </a:r>
            <a:r>
              <a:rPr lang="en-US" sz="2400" b="1" dirty="0"/>
              <a:t>sales and conversion rates</a:t>
            </a:r>
            <a:r>
              <a:rPr lang="en-US" sz="2400" dirty="0"/>
              <a:t>.</a:t>
            </a:r>
          </a:p>
          <a:p>
            <a:pPr marL="342900" indent="-342900">
              <a:buFontTx/>
              <a:buChar char="-"/>
            </a:pPr>
            <a:r>
              <a:rPr lang="en-US" sz="2400" dirty="0"/>
              <a:t>Easy to implement using </a:t>
            </a:r>
            <a:r>
              <a:rPr lang="en-US" sz="2400" b="1" dirty="0"/>
              <a:t>modern web technologies</a:t>
            </a:r>
            <a:r>
              <a:rPr lang="en-US" sz="2400" dirty="0"/>
              <a:t> (React, JS, etc.).</a:t>
            </a:r>
          </a:p>
          <a:p>
            <a:pPr marL="342900" indent="-342900">
              <a:buFontTx/>
              <a:buChar char="-"/>
            </a:pPr>
            <a:endParaRPr lang="en-US" sz="2400" dirty="0"/>
          </a:p>
          <a:p>
            <a:pPr marL="342900" indent="-342900">
              <a:buFontTx/>
              <a:buChar char="-"/>
            </a:pPr>
            <a:endParaRPr lang="en-US" sz="2400" dirty="0"/>
          </a:p>
          <a:p>
            <a:r>
              <a:rPr lang="en-IN" sz="2800" b="1" dirty="0"/>
              <a:t>Limitations:</a:t>
            </a:r>
          </a:p>
          <a:p>
            <a:pPr marL="342900" indent="-342900">
              <a:buFontTx/>
              <a:buChar char="-"/>
            </a:pPr>
            <a:r>
              <a:rPr lang="en-US" sz="2400" dirty="0"/>
              <a:t>Dependency on </a:t>
            </a:r>
            <a:r>
              <a:rPr lang="en-US" sz="2400" b="1" dirty="0"/>
              <a:t>browser storage</a:t>
            </a:r>
            <a:r>
              <a:rPr lang="en-US" sz="2400" dirty="0"/>
              <a:t> (</a:t>
            </a:r>
            <a:r>
              <a:rPr lang="en-US" sz="2400" dirty="0" err="1"/>
              <a:t>localStorage</a:t>
            </a:r>
            <a:r>
              <a:rPr lang="en-US" sz="2400" dirty="0"/>
              <a:t>/</a:t>
            </a:r>
            <a:r>
              <a:rPr lang="en-US" sz="2400" dirty="0" err="1"/>
              <a:t>sessionStorage</a:t>
            </a:r>
            <a:r>
              <a:rPr lang="en-US" sz="2400" dirty="0"/>
              <a:t>).</a:t>
            </a:r>
          </a:p>
          <a:p>
            <a:pPr marL="342900" indent="-342900">
              <a:buFontTx/>
              <a:buChar char="-"/>
            </a:pPr>
            <a:r>
              <a:rPr lang="en-US" sz="2400" dirty="0"/>
              <a:t>Limited data storage capacity in client-side storage.</a:t>
            </a:r>
          </a:p>
          <a:p>
            <a:pPr marL="342900" indent="-342900">
              <a:buFontTx/>
              <a:buChar char="-"/>
            </a:pPr>
            <a:r>
              <a:rPr lang="en-US" sz="2400" dirty="0"/>
              <a:t>Security risks if </a:t>
            </a:r>
            <a:r>
              <a:rPr lang="en-US" sz="2400" b="1" dirty="0"/>
              <a:t>sensitive data</a:t>
            </a:r>
            <a:r>
              <a:rPr lang="en-US" sz="2400" dirty="0"/>
              <a:t> is stored on the client side.</a:t>
            </a:r>
          </a:p>
          <a:p>
            <a:pPr marL="342900" indent="-342900">
              <a:buFontTx/>
              <a:buChar char="-"/>
            </a:pPr>
            <a:r>
              <a:rPr lang="en-US" sz="2400" dirty="0"/>
              <a:t>Performance issues with </a:t>
            </a:r>
            <a:r>
              <a:rPr lang="en-US" sz="2400" b="1" dirty="0"/>
              <a:t>large data handling</a:t>
            </a:r>
            <a:r>
              <a:rPr lang="en-US" sz="2400" dirty="0"/>
              <a:t>.</a:t>
            </a:r>
          </a:p>
          <a:p>
            <a:pPr marL="342900" indent="-342900">
              <a:buFontTx/>
              <a:buChar char="-"/>
            </a:pPr>
            <a:r>
              <a:rPr lang="en-US" sz="2400" dirty="0"/>
              <a:t>Browser compatibility issues in older versions.</a:t>
            </a:r>
          </a:p>
          <a:p>
            <a:pPr marL="342900" indent="-342900">
              <a:buFontTx/>
              <a:buChar char="-"/>
            </a:pPr>
            <a:endParaRPr lang="en-US" sz="2400" dirty="0"/>
          </a:p>
          <a:p>
            <a:pPr marL="342900" indent="-342900">
              <a:buFontTx/>
              <a:buChar char="-"/>
            </a:pPr>
            <a:endParaRPr lang="en-US" sz="2400" b="1" dirty="0"/>
          </a:p>
          <a:p>
            <a:pPr marL="342900" indent="-342900">
              <a:buFontTx/>
              <a:buChar char="-"/>
            </a:pPr>
            <a:endParaRPr lang="en-US" sz="2400" dirty="0"/>
          </a:p>
          <a:p>
            <a:pPr marL="342900" indent="-342900">
              <a:buFontTx/>
              <a:buChar char="-"/>
            </a:pPr>
            <a:endParaRPr lang="en-US" sz="2400" dirty="0"/>
          </a:p>
        </p:txBody>
      </p:sp>
      <p:sp>
        <p:nvSpPr>
          <p:cNvPr id="35" name="Rectangle 3">
            <a:extLst>
              <a:ext uri="{FF2B5EF4-FFF2-40B4-BE49-F238E27FC236}">
                <a16:creationId xmlns:a16="http://schemas.microsoft.com/office/drawing/2014/main" id="{133FF5D5-841F-F6E6-F32A-65E3CFB64009}"/>
              </a:ext>
            </a:extLst>
          </p:cNvPr>
          <p:cNvSpPr>
            <a:spLocks noChangeArrowheads="1"/>
          </p:cNvSpPr>
          <p:nvPr/>
        </p:nvSpPr>
        <p:spPr bwMode="auto">
          <a:xfrm>
            <a:off x="304800" y="12013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TotalTime>
  <Words>1087</Words>
  <Application>Microsoft Office PowerPoint</Application>
  <PresentationFormat>Custom</PresentationFormat>
  <Paragraphs>346</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Gotham Bold Italics</vt:lpstr>
      <vt:lpstr>Bookman Old Style</vt:lpstr>
      <vt:lpstr>Arial</vt:lpstr>
      <vt:lpstr>Calibri</vt:lpstr>
      <vt:lpstr>Times New Roman</vt:lpstr>
      <vt:lpstr>Cambria</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likith kumar</dc:creator>
  <cp:lastModifiedBy>likith kumar</cp:lastModifiedBy>
  <cp:revision>11</cp:revision>
  <dcterms:created xsi:type="dcterms:W3CDTF">2006-08-16T00:00:00Z</dcterms:created>
  <dcterms:modified xsi:type="dcterms:W3CDTF">2026-03-21T18:30:36Z</dcterms:modified>
  <dc:identifier>DAHCaYqJ9OU</dc:identifier>
</cp:coreProperties>
</file>